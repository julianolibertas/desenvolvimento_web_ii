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A100D-6228-C6DD-9050-31042C73F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7FCFF0-B7E6-A02C-CA02-C00F7ACB8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A9325-5EED-9032-7AF5-7898B42F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927252-89B6-A709-4B20-CA932A07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E5881-1F01-D4CB-4405-7DB0D0A8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3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C6176-90A9-8E78-EAD6-1E2EF14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E6C5C2-9A70-FC3E-467A-39A15624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EB87E2-9B41-A821-65A4-92B859F5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38D817-1F3F-B0E3-0788-D752DB00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8ECE89-2FD6-A82D-94A6-D6765BD6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60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2E96F-EEC9-58CC-7E14-79E31DC4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04DA4B-2453-81FD-F146-99696C724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F5218F-22A8-DD0F-8582-07066738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486A5-FFF3-B102-F65F-F98381CFD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4CF3DF-E775-C132-88FC-58E3119B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95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83328-EBFC-4C5C-EF0D-EB07DFB6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7477CC-A6CE-B6CA-020A-D36445A8E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652184-8AE8-6567-5322-B96ED31D6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5CE9D0-E6FA-79E5-41BA-B467D1A5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87F744-FF8D-B082-9832-327B92E7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5E6F8F-FC83-441B-F2C2-4445618E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5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D2D44-4086-9614-FBCE-59DE2FA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975C0C-EE0B-F19C-DEFF-C6F982A5C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41659C-3A72-C8A0-8A17-899F24C1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DA2A82-78CF-86E8-2058-AA80E03F7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B653FC-45E1-7DD4-DF66-E2A020B7C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6D8824-CD88-B821-F343-E11B9E6E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9A3115-52CD-B99C-8552-0459DF68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386463-9962-0064-9BD4-291A9049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35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67FF6-A6EC-AE27-8A99-9A840C63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52A441-CEE6-B77A-C737-E35D36BC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7F1090-7AC6-082E-8B33-4F69E027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4B83D7-0097-0A35-2B85-2808E0D5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13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6A4E9F-960D-40F5-B598-4515B960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55CD07-DA73-A7B7-DE86-32D5E31F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154C2-CB5D-BA30-D579-18D2F017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20D8B-3A61-2DEC-E24C-F04BFC02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1A0C34-DD53-105E-F94D-776A94AD3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CB23E8-9B5D-04DB-7559-7B9CD0489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983853-D061-9E60-24A0-7035D23F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2F2F9E-E98F-659B-0538-6D87C1A7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9AD8B7-3E1C-9A7A-CD4D-48D6A985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41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8C383-45DD-975F-37F3-70A9340A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A5B2DC-88DB-E973-C410-DA7AB3380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01864D-62F8-B470-670C-65B644179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14482A-4E72-8EEF-6370-121224AF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559988-D248-D34C-14C2-95B1C086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9B1E7A-0C04-4464-7326-10F62721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99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AD66A-E869-6B0F-79AA-BCAEADB9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C85B70-9365-0E3B-22FE-8EA044E12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F0A77F-9980-EC0C-2618-C98960D6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7F6ED7-5911-2C47-DD86-F6DABFC6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3B66AB-E122-87A5-1D80-B6E7D111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04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F21D12-CAD8-7E45-14F7-B5DB4C0EA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15B2B0-7C5C-8905-8956-37C10315B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2CD752-2698-62C8-3313-FDAF12A9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6C2B7C-A2CC-A76E-811B-C3843D7C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2118B5-7951-C6B2-04A0-94F1073A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70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2C6A515-BDBB-3E63-D2A3-E44E330E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BE664-3BA1-2A75-1749-2EE559E6A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DC9618-CA82-4EA2-4C7D-C3C7E92A2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65A70-0BE5-4F4E-A787-47908AD729D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FE309D-8F8A-78E4-8991-2E7F91AD7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00AA6-46CF-09D9-8266-68592770B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0232D-9383-4A9F-9333-237AFFF92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83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9F1FB6-E8EC-4792-5D38-1DB2EB2E9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pt-BR" sz="4800">
                <a:solidFill>
                  <a:srgbClr val="FFFFFF"/>
                </a:solidFill>
              </a:rPr>
              <a:t>Bootstrap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45E483-6F06-7C12-8C00-ADB0F50A8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7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6BB5C6-3176-D081-C52C-9DDEB965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Breakpoints</a:t>
            </a:r>
            <a:r>
              <a:rPr lang="en-US" sz="4000" dirty="0">
                <a:solidFill>
                  <a:srgbClr val="FFFFFF"/>
                </a:solidFill>
              </a:rPr>
              <a:t>. </a:t>
            </a:r>
            <a:r>
              <a:rPr lang="en-US" sz="4000">
                <a:solidFill>
                  <a:srgbClr val="FFFFFF"/>
                </a:solidFill>
              </a:rPr>
              <a:t>Sufixos </a:t>
            </a:r>
            <a:r>
              <a:rPr lang="en-US" sz="4000" dirty="0">
                <a:solidFill>
                  <a:srgbClr val="FFFFFF"/>
                </a:solidFill>
              </a:rPr>
              <a:t>de </a:t>
            </a:r>
            <a:r>
              <a:rPr lang="en-US" sz="4000" dirty="0" err="1">
                <a:solidFill>
                  <a:srgbClr val="FFFFFF"/>
                </a:solidFill>
              </a:rPr>
              <a:t>tamanhos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A74F883-DA9C-677B-6121-CC5F3A6C46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133985"/>
              </p:ext>
            </p:extLst>
          </p:nvPr>
        </p:nvGraphicFramePr>
        <p:xfrm>
          <a:off x="432225" y="2127781"/>
          <a:ext cx="11327549" cy="4129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5266">
                  <a:extLst>
                    <a:ext uri="{9D8B030D-6E8A-4147-A177-3AD203B41FA5}">
                      <a16:colId xmlns:a16="http://schemas.microsoft.com/office/drawing/2014/main" val="2765715287"/>
                    </a:ext>
                  </a:extLst>
                </a:gridCol>
                <a:gridCol w="3270314">
                  <a:extLst>
                    <a:ext uri="{9D8B030D-6E8A-4147-A177-3AD203B41FA5}">
                      <a16:colId xmlns:a16="http://schemas.microsoft.com/office/drawing/2014/main" val="2825406523"/>
                    </a:ext>
                  </a:extLst>
                </a:gridCol>
                <a:gridCol w="3661969">
                  <a:extLst>
                    <a:ext uri="{9D8B030D-6E8A-4147-A177-3AD203B41FA5}">
                      <a16:colId xmlns:a16="http://schemas.microsoft.com/office/drawing/2014/main" val="2311241686"/>
                    </a:ext>
                  </a:extLst>
                </a:gridCol>
              </a:tblGrid>
              <a:tr h="5898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600">
                          <a:effectLst/>
                        </a:rPr>
                        <a:t>Breakpoint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600">
                          <a:effectLst/>
                        </a:rPr>
                        <a:t>Class infix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600">
                          <a:effectLst/>
                        </a:rPr>
                        <a:t>Dimensions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1321211398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X-Small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 i="1">
                          <a:effectLst/>
                        </a:rPr>
                        <a:t>None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&lt;576px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2491055807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Small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sm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≥576px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94841702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Medium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md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≥768px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3021501500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Large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lg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≥992px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2320608061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Extra large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xl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≥1200px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97270311"/>
                  </a:ext>
                </a:extLst>
              </a:tr>
              <a:tr h="589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Extra extra large</a:t>
                      </a: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xxl</a:t>
                      </a:r>
                      <a:endParaRPr lang="pt-BR" sz="2600">
                        <a:effectLst/>
                      </a:endParaRPr>
                    </a:p>
                  </a:txBody>
                  <a:tcPr marL="134064" marR="134064" marT="67032" marB="67032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600">
                          <a:effectLst/>
                        </a:rPr>
                        <a:t>≥1400px</a:t>
                      </a:r>
                    </a:p>
                  </a:txBody>
                  <a:tcPr marL="134064" marR="134064" marT="67032" marB="67032"/>
                </a:tc>
                <a:extLst>
                  <a:ext uri="{0D108BD9-81ED-4DB2-BD59-A6C34878D82A}">
                    <a16:rowId xmlns:a16="http://schemas.microsoft.com/office/drawing/2014/main" val="249940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66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0FD77B-2ED7-3490-811C-0E8D33FC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Containers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C5A3DA61-A7C2-1DB6-C35F-BED579CFF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394124"/>
            <a:ext cx="11327549" cy="359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9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6C2DFE-DB8D-7B18-565E-D8DC784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Containers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9B73103-BBB7-D2DB-F897-F5147B7DA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7445" y="467208"/>
            <a:ext cx="665571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0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EDAC79-D8E3-79A8-AE05-EBC7943F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Principais </a:t>
            </a:r>
            <a:r>
              <a:rPr lang="pt-BR" sz="4000" i="1">
                <a:solidFill>
                  <a:srgbClr val="FFFFFF"/>
                </a:solidFill>
              </a:rPr>
              <a:t>tags </a:t>
            </a:r>
            <a:r>
              <a:rPr lang="pt-BR" sz="4000">
                <a:solidFill>
                  <a:srgbClr val="FFFFFF"/>
                </a:solidFill>
              </a:rPr>
              <a:t>de contêiners. 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8538882A-90B9-6E9C-C4FE-2585992CF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116762"/>
              </p:ext>
            </p:extLst>
          </p:nvPr>
        </p:nvGraphicFramePr>
        <p:xfrm>
          <a:off x="644056" y="2130536"/>
          <a:ext cx="10927832" cy="4156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157">
                  <a:extLst>
                    <a:ext uri="{9D8B030D-6E8A-4147-A177-3AD203B41FA5}">
                      <a16:colId xmlns:a16="http://schemas.microsoft.com/office/drawing/2014/main" val="523921152"/>
                    </a:ext>
                  </a:extLst>
                </a:gridCol>
                <a:gridCol w="1455174">
                  <a:extLst>
                    <a:ext uri="{9D8B030D-6E8A-4147-A177-3AD203B41FA5}">
                      <a16:colId xmlns:a16="http://schemas.microsoft.com/office/drawing/2014/main" val="3720165404"/>
                    </a:ext>
                  </a:extLst>
                </a:gridCol>
                <a:gridCol w="1311249">
                  <a:extLst>
                    <a:ext uri="{9D8B030D-6E8A-4147-A177-3AD203B41FA5}">
                      <a16:colId xmlns:a16="http://schemas.microsoft.com/office/drawing/2014/main" val="3914196381"/>
                    </a:ext>
                  </a:extLst>
                </a:gridCol>
                <a:gridCol w="1545063">
                  <a:extLst>
                    <a:ext uri="{9D8B030D-6E8A-4147-A177-3AD203B41FA5}">
                      <a16:colId xmlns:a16="http://schemas.microsoft.com/office/drawing/2014/main" val="883556723"/>
                    </a:ext>
                  </a:extLst>
                </a:gridCol>
                <a:gridCol w="1545063">
                  <a:extLst>
                    <a:ext uri="{9D8B030D-6E8A-4147-A177-3AD203B41FA5}">
                      <a16:colId xmlns:a16="http://schemas.microsoft.com/office/drawing/2014/main" val="142690271"/>
                    </a:ext>
                  </a:extLst>
                </a:gridCol>
                <a:gridCol w="1545063">
                  <a:extLst>
                    <a:ext uri="{9D8B030D-6E8A-4147-A177-3AD203B41FA5}">
                      <a16:colId xmlns:a16="http://schemas.microsoft.com/office/drawing/2014/main" val="276495387"/>
                    </a:ext>
                  </a:extLst>
                </a:gridCol>
                <a:gridCol w="1545063">
                  <a:extLst>
                    <a:ext uri="{9D8B030D-6E8A-4147-A177-3AD203B41FA5}">
                      <a16:colId xmlns:a16="http://schemas.microsoft.com/office/drawing/2014/main" val="2436949679"/>
                    </a:ext>
                  </a:extLst>
                </a:gridCol>
              </a:tblGrid>
              <a:tr h="978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pt-BR" sz="190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>
                          <a:effectLst/>
                        </a:rPr>
                        <a:t>Extra </a:t>
                      </a:r>
                      <a:r>
                        <a:rPr lang="pt-BR" sz="1900" dirty="0" err="1">
                          <a:effectLst/>
                        </a:rPr>
                        <a:t>small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&lt;576px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 err="1">
                          <a:effectLst/>
                        </a:rPr>
                        <a:t>Small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≥576px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 err="1">
                          <a:effectLst/>
                        </a:rPr>
                        <a:t>Medium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≥768px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>
                          <a:effectLst/>
                        </a:rPr>
                        <a:t>Large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≥992px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>
                          <a:effectLst/>
                        </a:rPr>
                        <a:t>X-Large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≥1200px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dirty="0">
                          <a:effectLst/>
                        </a:rPr>
                        <a:t>XX-Large</a:t>
                      </a:r>
                      <a:br>
                        <a:rPr lang="pt-BR" sz="1900" dirty="0">
                          <a:effectLst/>
                        </a:rPr>
                      </a:br>
                      <a:r>
                        <a:rPr lang="pt-BR" sz="1900" b="0" dirty="0">
                          <a:effectLst/>
                        </a:rPr>
                        <a:t>≥1400px</a:t>
                      </a:r>
                      <a:endParaRPr lang="pt-BR" sz="1900" dirty="0">
                        <a:effectLst/>
                      </a:endParaRP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1492746645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540px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720px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960px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1140px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2757685461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.container-sm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540px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720px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960px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1140px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2055788163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.container-md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720px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960px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1140px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555912411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.container-lg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960px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1140px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1616883068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.container-xl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1140px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2751042884"/>
                  </a:ext>
                </a:extLst>
              </a:tr>
              <a:tr h="4138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.container-xxl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effectLst/>
                        </a:rPr>
                        <a:t>1320px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2766113834"/>
                  </a:ext>
                </a:extLst>
              </a:tr>
              <a:tr h="6959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900" b="0">
                          <a:solidFill>
                            <a:srgbClr val="D63384"/>
                          </a:solidFill>
                          <a:effectLst/>
                          <a:latin typeface="SFMono-Regular"/>
                        </a:rPr>
                        <a:t>.container-fluid</a:t>
                      </a:r>
                      <a:endParaRPr lang="pt-BR" sz="1900" b="0">
                        <a:effectLst/>
                      </a:endParaRP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900" dirty="0">
                          <a:solidFill>
                            <a:srgbClr val="6C757D"/>
                          </a:solidFill>
                          <a:effectLst/>
                        </a:rPr>
                        <a:t>100%</a:t>
                      </a:r>
                    </a:p>
                  </a:txBody>
                  <a:tcPr marL="94047" marR="94047" marT="47024" marB="47024"/>
                </a:tc>
                <a:extLst>
                  <a:ext uri="{0D108BD9-81ED-4DB2-BD59-A6C34878D82A}">
                    <a16:rowId xmlns:a16="http://schemas.microsoft.com/office/drawing/2014/main" val="310101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94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45B7C7-5F17-8F4A-6DB0-641A5B25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Divisão em 12 colunas.  Sistema de Grid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58D05F3-0164-886D-9E11-435E82219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674184"/>
            <a:ext cx="7225748" cy="55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A9BCC-5422-6332-436E-C1B591B2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43747C-07CA-17F7-08FA-5447A20A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CD483-5E42-C317-AC98-48A1BCAD9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53C61-41B3-E3AC-A00B-CBCB3A0CD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0D2C14-4C7C-4026-2CC3-435ACE39A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603C4B-0391-A48A-7EB8-25A77726C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Margem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preenchimento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D4963D-1A0E-2E94-1F9D-5C8C3E3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Espaço Reservado para Conteúdo 4">
            <a:extLst>
              <a:ext uri="{FF2B5EF4-FFF2-40B4-BE49-F238E27FC236}">
                <a16:creationId xmlns:a16="http://schemas.microsoft.com/office/drawing/2014/main" id="{E5EA5123-65F3-1000-57D8-BB80720E1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664" y="1655276"/>
            <a:ext cx="8726668" cy="50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8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D7923-316C-25CA-2789-8DC28C57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F5C78-1107-8C00-FA91-B332CBF8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12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5A31A-1C96-C72F-9F84-0DA4CDE2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FE67EA3-A50A-FB10-9A27-CB61136BE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479081"/>
            <a:ext cx="11327549" cy="342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96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160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SFMono-Regular</vt:lpstr>
      <vt:lpstr>Tema do Office</vt:lpstr>
      <vt:lpstr>Bootstrap 5</vt:lpstr>
      <vt:lpstr>Breakpoints. Sufixos de tamanhos</vt:lpstr>
      <vt:lpstr>Containers</vt:lpstr>
      <vt:lpstr>Containers</vt:lpstr>
      <vt:lpstr>Principais tags de contêiners. </vt:lpstr>
      <vt:lpstr>Divisão em 12 colunas.  Sistema de Grid</vt:lpstr>
      <vt:lpstr>Margem e preenchimento </vt:lpstr>
      <vt:lpstr>Apresentação do PowerPoint</vt:lpstr>
      <vt:lpstr>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Juliano Caetano</dc:creator>
  <cp:lastModifiedBy>Juliano Caetano</cp:lastModifiedBy>
  <cp:revision>5</cp:revision>
  <dcterms:created xsi:type="dcterms:W3CDTF">2025-10-19T23:48:58Z</dcterms:created>
  <dcterms:modified xsi:type="dcterms:W3CDTF">2026-10-20T17:55:58Z</dcterms:modified>
</cp:coreProperties>
</file>