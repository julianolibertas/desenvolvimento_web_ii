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66" r:id="rId3"/>
    <p:sldId id="259" r:id="rId4"/>
    <p:sldId id="260" r:id="rId5"/>
    <p:sldId id="261" r:id="rId6"/>
    <p:sldId id="267" r:id="rId7"/>
    <p:sldId id="262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05F53-0473-ABC1-CCCD-CDAC1643E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0769FE-29E6-21B4-2511-BE955F653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E970FC-67F8-3FB3-0287-4D603C1A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C4A053-1053-BC9C-7C03-C60389A2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F9D4C-F5D6-5540-3923-5D9E6137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600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982E-C7A5-F53F-AD55-9103E4F1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992D3-1E89-E33A-8802-D77F715F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475345-7D12-2278-869B-8E5F8C1E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A49F40-D7E1-D257-8A2B-4DBCD35F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1DA0D-A5F8-85C3-4EB8-CE3CECEA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1183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4C775-F037-415F-2213-C4035609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A0AD39-A6C2-E970-6C05-3E526A53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7202B-7836-E2F9-9C49-0CE7DA39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AFD32C-8213-9DAE-D4BD-F30B9169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94A10-2291-6B43-DCC2-B49E9395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029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3183D-9795-92FD-F433-09A77D36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E3FC74-93A4-21D5-E562-7D9E050D7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F3C34B-CAC7-C492-7E12-8B0929315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468CCE-F02F-4043-D57A-F6AD6062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58632A-742B-4B0E-9AF6-1AA6B33B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F7421D-B702-71B2-6DEE-DBF70564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440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93E0F-95E3-F79A-7326-85DD99BC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3033C3-5732-7045-E7CA-73139F79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CD61D6-A7E8-0E3F-E3E8-22C05406D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4586DF-7D42-F08F-FA94-072C35796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2EFC71-ABF9-22D9-3AED-B06E5E05F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B286B9-BEA5-9CAD-BF55-54545887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4EE561-B87B-47B5-0393-5117D322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6E8CD6-D1AF-1B0D-26C9-81B0468E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7660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6F7F2-E38E-3C6F-626B-B7F55DE9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9066F6-71A2-C408-E750-34D5B32F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837064-0F68-1718-246D-9F9B1118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63FB4B-8823-E837-75EB-AA8029AB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746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DE5B6A-7594-824B-B4ED-15D2A4A0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8F6175-D0BB-7C9E-FD72-434FF8C6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BBA7FB-4894-4E8A-783D-FCAFF7F6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613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07F9B-9C5A-F18C-8E2F-2A8C3F37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C3839-A6E6-5E8E-F27E-0631771A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977D6F-F228-7D83-CD64-6C1D01E93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0E6D59-4BCB-BB5A-2FE9-FD20517B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EB18C5-5E5A-1420-5829-2B96F314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D17117-00AE-1473-DD42-67D1124B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263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C877C-6418-2614-16E6-C583029C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25097F-8571-1019-3D8D-1B47832D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C444DA-1076-1ADC-BB7E-EEB83BF49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85C13A-F45F-BB4D-3DF0-C1704356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A2C36-198A-6E7F-36D3-5674B8AE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67E876-D7B3-154C-511E-9B904581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3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542A4-87C2-4B5E-53A4-D4CBDC95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ED2E08-3E84-926A-69D9-4B140DC28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9C342-6695-6A1C-ABB0-F5CE6D73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6A893B-D525-5548-9F72-5EDE17A0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E1BFED-6443-6590-AC75-9E6EC9B2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974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AA9079-0381-1006-D1AD-29BC72EF1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7AD799-BF28-4EA5-7C3F-F6EB705E8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6FA298-F110-6055-C8ED-2972BB3A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BC0D8-8317-0FFD-F9A6-840CF364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7C6BD8-A875-3B9E-7239-8D1F4A90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8314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129281-3D2D-6541-D0C4-F6D445A2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63389B-A766-45D5-5490-5CC26C53B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2A61A2-9E7F-2DF0-2F30-053D86470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9B808B-0D05-CE46-8278-DC4587C39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237973-1051-BBD0-C602-CFB481A08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1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1823E-EB6C-6D25-B104-B9C4D933C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pt-BR" sz="5600"/>
              <a:t>Desenvolvimento Web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4DE633-A49B-6C70-B4DB-FA130F0F1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pt-BR" dirty="0"/>
              <a:t>Prof. Juliano Caetano</a:t>
            </a:r>
          </a:p>
        </p:txBody>
      </p:sp>
      <p:pic>
        <p:nvPicPr>
          <p:cNvPr id="18" name="Picture 3" descr="Padrão do plano de fundo&#10;&#10;Descrição gerada automaticamente">
            <a:extLst>
              <a:ext uri="{FF2B5EF4-FFF2-40B4-BE49-F238E27FC236}">
                <a16:creationId xmlns:a16="http://schemas.microsoft.com/office/drawing/2014/main" id="{36BC44DB-9F26-53E7-1FC3-D702F6CC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45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98B2E-EA08-BB6B-CBBF-5B9B5815B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pt-BR" dirty="0"/>
              <a:t>Exemplos de uso do Javascript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3119F-5923-B94C-0566-F970B5B49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pt-BR" sz="2000" dirty="0" err="1"/>
              <a:t>Alert</a:t>
            </a:r>
            <a:r>
              <a:rPr lang="pt-BR" sz="2000" dirty="0"/>
              <a:t>, prompt</a:t>
            </a:r>
          </a:p>
          <a:p>
            <a:r>
              <a:rPr lang="pt-BR" sz="2000" dirty="0"/>
              <a:t>Aplicação: estados de uma lâmpada </a:t>
            </a:r>
          </a:p>
          <a:p>
            <a:r>
              <a:rPr lang="pt-BR" sz="2000" dirty="0"/>
              <a:t>Variáveis</a:t>
            </a:r>
          </a:p>
        </p:txBody>
      </p:sp>
      <p:pic>
        <p:nvPicPr>
          <p:cNvPr id="5" name="Picture 4" descr="Símbolo de e-mail na lâmpada">
            <a:extLst>
              <a:ext uri="{FF2B5EF4-FFF2-40B4-BE49-F238E27FC236}">
                <a16:creationId xmlns:a16="http://schemas.microsoft.com/office/drawing/2014/main" id="{30FC3B78-2103-11C2-9DE1-4F921D82DB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9" r="23568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924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869389-FB74-60D3-0FB7-A97D705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5400"/>
              <a:t>Variáveis em Javascript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3D73FC-8E52-92B9-F6AF-3DDE68863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dirty="0"/>
              <a:t>No </a:t>
            </a:r>
            <a:r>
              <a:rPr lang="pt-BR" sz="2200" dirty="0" err="1"/>
              <a:t>JavaScript</a:t>
            </a:r>
            <a:r>
              <a:rPr lang="pt-BR" sz="2200" dirty="0"/>
              <a:t> moderno, a escolha entre var, </a:t>
            </a:r>
            <a:r>
              <a:rPr lang="pt-BR" sz="2200" dirty="0" err="1"/>
              <a:t>let</a:t>
            </a:r>
            <a:r>
              <a:rPr lang="pt-BR" sz="2200" dirty="0"/>
              <a:t> e </a:t>
            </a:r>
            <a:r>
              <a:rPr lang="pt-BR" sz="2200" dirty="0" err="1"/>
              <a:t>const</a:t>
            </a:r>
            <a:r>
              <a:rPr lang="pt-BR" sz="2200" dirty="0"/>
              <a:t> depende principalmente do escopo e da mutabilidade (se o valor pode ser alterado ou não).</a:t>
            </a:r>
          </a:p>
          <a:p>
            <a:pPr marL="0" indent="0">
              <a:buNone/>
            </a:pPr>
            <a:r>
              <a:rPr lang="pt-BR" sz="2200" b="1" dirty="0" err="1"/>
              <a:t>const</a:t>
            </a:r>
            <a:r>
              <a:rPr lang="pt-BR" sz="2200" b="1" dirty="0"/>
              <a:t> (Constante)</a:t>
            </a:r>
            <a:r>
              <a:rPr lang="pt-BR" sz="2200" dirty="0"/>
              <a:t>: Use </a:t>
            </a:r>
            <a:r>
              <a:rPr lang="pt-BR" sz="2200" b="1" dirty="0" err="1"/>
              <a:t>const</a:t>
            </a:r>
            <a:r>
              <a:rPr lang="pt-BR" sz="2200" dirty="0"/>
              <a:t> quando você tem certeza de que o valor da variável não será reatribuído após a sua declaração inicial. É a escolha preferida para a maioria das variáveis em </a:t>
            </a:r>
            <a:r>
              <a:rPr lang="pt-BR" sz="2200" dirty="0" err="1"/>
              <a:t>JavaScript</a:t>
            </a:r>
            <a:r>
              <a:rPr lang="pt-BR" sz="2200" dirty="0"/>
              <a:t> moderno, pois promove um código mais previsível e menos propenso a erros.</a:t>
            </a:r>
          </a:p>
          <a:p>
            <a:pPr marL="0" indent="0">
              <a:buNone/>
            </a:pPr>
            <a:r>
              <a:rPr lang="pt-BR" sz="2200" b="1" dirty="0" err="1"/>
              <a:t>let</a:t>
            </a:r>
            <a:r>
              <a:rPr lang="pt-BR" sz="2200" b="1" dirty="0"/>
              <a:t> (Variável de Bloco): </a:t>
            </a:r>
            <a:r>
              <a:rPr lang="pt-BR" sz="2200" dirty="0"/>
              <a:t>Use </a:t>
            </a:r>
            <a:r>
              <a:rPr lang="pt-BR" sz="2200" b="1" dirty="0" err="1"/>
              <a:t>let</a:t>
            </a:r>
            <a:r>
              <a:rPr lang="pt-BR" sz="2200" dirty="0"/>
              <a:t> quando você sabe que o valor da variável precisará ser reatribuído em algum momento do seu código.</a:t>
            </a:r>
          </a:p>
          <a:p>
            <a:pPr marL="0" indent="0">
              <a:buNone/>
            </a:pPr>
            <a:r>
              <a:rPr lang="pt-BR" sz="2200" b="1" dirty="0"/>
              <a:t>var (Variável de Função/Global): var</a:t>
            </a:r>
            <a:r>
              <a:rPr lang="pt-BR" sz="2200" dirty="0"/>
              <a:t> é a forma mais antiga de declarar variáveis em </a:t>
            </a:r>
            <a:r>
              <a:rPr lang="pt-BR" sz="2200" dirty="0" err="1"/>
              <a:t>JavaScript</a:t>
            </a:r>
            <a:r>
              <a:rPr lang="pt-BR" sz="2200" dirty="0"/>
              <a:t> e é altamente desencorajada no código moderno devido ao seu comportamento menos intuitivo e propenso a erros.</a:t>
            </a:r>
          </a:p>
        </p:txBody>
      </p:sp>
    </p:spTree>
    <p:extLst>
      <p:ext uri="{BB962C8B-B14F-4D97-AF65-F5344CB8AC3E}">
        <p14:creationId xmlns:p14="http://schemas.microsoft.com/office/powerpoint/2010/main" val="198803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552F54-B7A9-18F3-0F86-9634842A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Nomeação de variáveis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76061-C7ED-4C38-86E2-C17CB2EFD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dirty="0"/>
              <a:t>Em </a:t>
            </a:r>
            <a:r>
              <a:rPr lang="pt-BR" dirty="0" err="1"/>
              <a:t>JavaScript</a:t>
            </a:r>
            <a:r>
              <a:rPr lang="pt-BR" dirty="0"/>
              <a:t>, os nomes de variáveis </a:t>
            </a:r>
            <a:r>
              <a:rPr lang="pt-BR" b="1" dirty="0"/>
              <a:t>não</a:t>
            </a:r>
            <a:r>
              <a:rPr lang="pt-BR" dirty="0"/>
              <a:t> podem:</a:t>
            </a:r>
          </a:p>
          <a:p>
            <a:r>
              <a:rPr lang="pt-BR" dirty="0"/>
              <a:t>Conter espaços.</a:t>
            </a:r>
          </a:p>
          <a:p>
            <a:r>
              <a:rPr lang="pt-BR" dirty="0"/>
              <a:t>Começar por número.</a:t>
            </a:r>
          </a:p>
          <a:p>
            <a:r>
              <a:rPr lang="pt-BR" dirty="0"/>
              <a:t>Conter caracteres especiais, como +,-,*, /, %, (,),{,},!,@,#.</a:t>
            </a:r>
          </a:p>
          <a:p>
            <a:r>
              <a:rPr lang="pt-BR" dirty="0"/>
              <a:t>Utilizar nomes de palavras reservadas da linguagem, como </a:t>
            </a:r>
            <a:r>
              <a:rPr lang="pt-BR" i="1" dirty="0" err="1"/>
              <a:t>function</a:t>
            </a:r>
            <a:r>
              <a:rPr lang="pt-BR" i="1" dirty="0"/>
              <a:t>, var, new, for ou </a:t>
            </a:r>
            <a:r>
              <a:rPr lang="pt-BR" i="1" dirty="0" err="1"/>
              <a:t>return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Exemplos de nomes válidos:</a:t>
            </a:r>
            <a:br>
              <a:rPr lang="pt-BR" dirty="0"/>
            </a:br>
            <a:r>
              <a:rPr lang="pt-BR" i="1" dirty="0" err="1"/>
              <a:t>let</a:t>
            </a:r>
            <a:r>
              <a:rPr lang="pt-BR" i="1" dirty="0"/>
              <a:t> </a:t>
            </a:r>
            <a:r>
              <a:rPr lang="pt-BR" i="1" dirty="0" err="1"/>
              <a:t>userName</a:t>
            </a:r>
            <a:r>
              <a:rPr lang="pt-BR" i="1" dirty="0"/>
              <a:t>;</a:t>
            </a:r>
          </a:p>
          <a:p>
            <a:pPr marL="0" indent="0">
              <a:buNone/>
            </a:pPr>
            <a:r>
              <a:rPr lang="pt-BR" i="1" dirty="0" err="1"/>
              <a:t>let</a:t>
            </a:r>
            <a:r>
              <a:rPr lang="pt-BR" i="1" dirty="0"/>
              <a:t> test123;</a:t>
            </a:r>
          </a:p>
        </p:txBody>
      </p:sp>
    </p:spTree>
    <p:extLst>
      <p:ext uri="{BB962C8B-B14F-4D97-AF65-F5344CB8AC3E}">
        <p14:creationId xmlns:p14="http://schemas.microsoft.com/office/powerpoint/2010/main" val="148899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550113-314A-7428-DA36-2AA6C915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5400"/>
              <a:t>Operadores aritméticos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12AB8AF-E1E9-DC21-6538-75EDBE1D44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084881"/>
              </p:ext>
            </p:extLst>
          </p:nvPr>
        </p:nvGraphicFramePr>
        <p:xfrm>
          <a:off x="792479" y="2120279"/>
          <a:ext cx="10515602" cy="437259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72908">
                  <a:extLst>
                    <a:ext uri="{9D8B030D-6E8A-4147-A177-3AD203B41FA5}">
                      <a16:colId xmlns:a16="http://schemas.microsoft.com/office/drawing/2014/main" val="2924244385"/>
                    </a:ext>
                  </a:extLst>
                </a:gridCol>
                <a:gridCol w="2779076">
                  <a:extLst>
                    <a:ext uri="{9D8B030D-6E8A-4147-A177-3AD203B41FA5}">
                      <a16:colId xmlns:a16="http://schemas.microsoft.com/office/drawing/2014/main" val="3302994999"/>
                    </a:ext>
                  </a:extLst>
                </a:gridCol>
                <a:gridCol w="2839265">
                  <a:extLst>
                    <a:ext uri="{9D8B030D-6E8A-4147-A177-3AD203B41FA5}">
                      <a16:colId xmlns:a16="http://schemas.microsoft.com/office/drawing/2014/main" val="214258918"/>
                    </a:ext>
                  </a:extLst>
                </a:gridCol>
                <a:gridCol w="2724353">
                  <a:extLst>
                    <a:ext uri="{9D8B030D-6E8A-4147-A177-3AD203B41FA5}">
                      <a16:colId xmlns:a16="http://schemas.microsoft.com/office/drawing/2014/main" val="207172898"/>
                    </a:ext>
                  </a:extLst>
                </a:gridCol>
              </a:tblGrid>
              <a:tr h="3310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Operador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>
                          <a:effectLst/>
                        </a:rPr>
                        <a:t>Nome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>
                          <a:effectLst/>
                        </a:rPr>
                        <a:t>Descrição</a:t>
                      </a:r>
                      <a:endParaRPr lang="pt-BR" sz="1800" dirty="0">
                        <a:effectLst/>
                      </a:endParaRP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>
                          <a:effectLst/>
                        </a:rPr>
                        <a:t>Exemplo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3849980155"/>
                  </a:ext>
                </a:extLst>
              </a:tr>
              <a:tr h="331098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+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Adição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Adiciona um número a outro.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6 + 9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2136248786"/>
                  </a:ext>
                </a:extLst>
              </a:tr>
              <a:tr h="538034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-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Subtração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Subtrai o número da direita do número da esquerda.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20 - 15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2375235813"/>
                  </a:ext>
                </a:extLst>
              </a:tr>
              <a:tr h="331098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*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Multiplicação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Multiplica um número pelo outro.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3 * 7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1505001558"/>
                  </a:ext>
                </a:extLst>
              </a:tr>
              <a:tr h="538034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/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Divisão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Divide o número da esquerda pelo número da direita.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10 / 5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3431677175"/>
                  </a:ext>
                </a:extLst>
              </a:tr>
              <a:tr h="744970"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%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Restante (</a:t>
                      </a:r>
                      <a:r>
                        <a:rPr lang="pt-BR" sz="1800" dirty="0" err="1">
                          <a:effectLst/>
                        </a:rPr>
                        <a:t>Reminder</a:t>
                      </a:r>
                      <a:r>
                        <a:rPr lang="pt-BR" sz="1800" dirty="0">
                          <a:effectLst/>
                        </a:rPr>
                        <a:t> - as vezes chamado de modulo)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Retorna o resto da divisão em números inteiros do número da esquerda pelo número da direita.</a:t>
                      </a:r>
                    </a:p>
                  </a:txBody>
                  <a:tcPr marL="88687" marR="88687" marT="44343" marB="4434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8 % 3 (retorna 2; como três cabe duas vezes em 8, deixando 2 como resto.)</a:t>
                      </a:r>
                    </a:p>
                  </a:txBody>
                  <a:tcPr marL="88687" marR="88687" marT="44343" marB="44343" anchor="ctr"/>
                </a:tc>
                <a:extLst>
                  <a:ext uri="{0D108BD9-81ED-4DB2-BD59-A6C34878D82A}">
                    <a16:rowId xmlns:a16="http://schemas.microsoft.com/office/drawing/2014/main" val="1074660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77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D82DF1-056F-2BFA-B5C3-A0DFD732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5400"/>
              <a:t>Exemplo de código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7BFF15-5132-CF24-3370-8D5C5C09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&lt;script&gt;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Operações envolvendo </a:t>
            </a:r>
            <a:r>
              <a:rPr lang="pt-B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strings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 números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const</a:t>
            </a:r>
            <a:r>
              <a:rPr lang="pt-BR" sz="2800" dirty="0"/>
              <a:t> a = "20"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const</a:t>
            </a:r>
            <a:r>
              <a:rPr lang="pt-BR" sz="2800" dirty="0"/>
              <a:t> b = a * 2       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const</a:t>
            </a:r>
            <a:r>
              <a:rPr lang="pt-BR" sz="2800" dirty="0"/>
              <a:t> c = a / 2       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const</a:t>
            </a:r>
            <a:r>
              <a:rPr lang="pt-BR" sz="2800" dirty="0"/>
              <a:t> d = a - 2       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const</a:t>
            </a:r>
            <a:r>
              <a:rPr lang="pt-BR" sz="2800" dirty="0"/>
              <a:t> e = a + 2       </a:t>
            </a:r>
          </a:p>
          <a:p>
            <a:pPr marL="457200" lvl="1" indent="0">
              <a:buNone/>
            </a:pPr>
            <a:r>
              <a:rPr lang="pt-BR" sz="2800" dirty="0"/>
              <a:t>  </a:t>
            </a:r>
            <a:r>
              <a:rPr lang="pt-BR" sz="2800" dirty="0" err="1"/>
              <a:t>alert</a:t>
            </a:r>
            <a:r>
              <a:rPr lang="pt-BR" sz="2800" dirty="0"/>
              <a:t>("e: " + e)      </a:t>
            </a:r>
          </a:p>
          <a:p>
            <a:pPr marL="0" indent="0">
              <a:buNone/>
            </a:pPr>
            <a:r>
              <a:rPr lang="pt-BR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1313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689F6-6745-8951-0195-D6CBBA1F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/>
              <a:t>Operadores de atribuição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4D133DB-9D58-204A-5611-75E5D5C7D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619147"/>
              </p:ext>
            </p:extLst>
          </p:nvPr>
        </p:nvGraphicFramePr>
        <p:xfrm>
          <a:off x="838200" y="1825625"/>
          <a:ext cx="10515603" cy="39805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4018401335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3117277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1961890327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236041816"/>
                    </a:ext>
                  </a:extLst>
                </a:gridCol>
                <a:gridCol w="1752603">
                  <a:extLst>
                    <a:ext uri="{9D8B030D-6E8A-4147-A177-3AD203B41FA5}">
                      <a16:colId xmlns:a16="http://schemas.microsoft.com/office/drawing/2014/main" val="3818384382"/>
                    </a:ext>
                  </a:extLst>
                </a:gridCol>
              </a:tblGrid>
              <a:tr h="2817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Operador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Nome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Descrição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Exemplo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dirty="0">
                          <a:effectLst/>
                        </a:rPr>
                        <a:t>Atalho para</a:t>
                      </a:r>
                    </a:p>
                  </a:txBody>
                  <a:tcPr marL="82870" marR="82870" marT="41435" marB="41435" anchor="ctr"/>
                </a:tc>
                <a:extLst>
                  <a:ext uri="{0D108BD9-81ED-4DB2-BD59-A6C34878D82A}">
                    <a16:rowId xmlns:a16="http://schemas.microsoft.com/office/drawing/2014/main" val="1374988843"/>
                  </a:ext>
                </a:extLst>
              </a:tr>
              <a:tr h="778977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+=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Atribuição de adição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Adiciona o valor à direita ao valor da variável à esquerda e, em seguida, retorna o novo valor da variável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3; x += 4;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3; x = x + 4;</a:t>
                      </a:r>
                    </a:p>
                  </a:txBody>
                  <a:tcPr marL="82870" marR="82870" marT="41435" marB="41435" anchor="ctr"/>
                </a:tc>
                <a:extLst>
                  <a:ext uri="{0D108BD9-81ED-4DB2-BD59-A6C34878D82A}">
                    <a16:rowId xmlns:a16="http://schemas.microsoft.com/office/drawing/2014/main" val="98035503"/>
                  </a:ext>
                </a:extLst>
              </a:tr>
              <a:tr h="613238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-=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Atribuição de subtração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Subtrai o valor à direita do valor da variável à esquerda e retorna o novo valor da variável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6; x -= 3;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6; x = x - 3;</a:t>
                      </a:r>
                    </a:p>
                  </a:txBody>
                  <a:tcPr marL="82870" marR="82870" marT="41435" marB="41435" anchor="ctr"/>
                </a:tc>
                <a:extLst>
                  <a:ext uri="{0D108BD9-81ED-4DB2-BD59-A6C34878D82A}">
                    <a16:rowId xmlns:a16="http://schemas.microsoft.com/office/drawing/2014/main" val="3669574712"/>
                  </a:ext>
                </a:extLst>
              </a:tr>
              <a:tr h="613238"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*=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Atribuição de multiplicação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Multiplica o valor da variável à esquerda pelo valor à direita e retorna o novo valor da variável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2; x *= 3;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>
                          <a:effectLst/>
                        </a:rPr>
                        <a:t>x = 2; x = x * 3;</a:t>
                      </a:r>
                    </a:p>
                  </a:txBody>
                  <a:tcPr marL="82870" marR="82870" marT="41435" marB="41435" anchor="ctr"/>
                </a:tc>
                <a:extLst>
                  <a:ext uri="{0D108BD9-81ED-4DB2-BD59-A6C34878D82A}">
                    <a16:rowId xmlns:a16="http://schemas.microsoft.com/office/drawing/2014/main" val="2437753596"/>
                  </a:ext>
                </a:extLst>
              </a:tr>
              <a:tr h="613238"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/=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Atribuição de divisão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Divide o valor da variável à esquerda pelo valor à direita e retorna o novo valor da variável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x = 10; x /= 5;</a:t>
                      </a:r>
                    </a:p>
                  </a:txBody>
                  <a:tcPr marL="82870" marR="82870" marT="41435" marB="4143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800" dirty="0">
                          <a:effectLst/>
                        </a:rPr>
                        <a:t>x = 10; x = x / 5;</a:t>
                      </a:r>
                    </a:p>
                  </a:txBody>
                  <a:tcPr marL="82870" marR="82870" marT="41435" marB="41435" anchor="ctr"/>
                </a:tc>
                <a:extLst>
                  <a:ext uri="{0D108BD9-81ED-4DB2-BD59-A6C34878D82A}">
                    <a16:rowId xmlns:a16="http://schemas.microsoft.com/office/drawing/2014/main" val="1653143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56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01DA3-4EA7-139F-BE64-09402764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4397DE-6C4D-7933-E2D2-1814E4A99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6A0F84-795E-3129-7A20-30786E9A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Exemplos de entrada, processamento e saída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638B92-A4E5-95B0-D6D7-1303F82F4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7BC88-E6E6-F6E6-EBFE-72F475C6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dirty="0"/>
              <a:t>Vamos agora implementar alguns exemplos de algoritmos de programação sequencial, os quais realizam essas etapas. </a:t>
            </a:r>
          </a:p>
          <a:p>
            <a:pPr marL="514350" indent="-514350">
              <a:lnSpc>
                <a:spcPct val="110000"/>
              </a:lnSpc>
              <a:buAutoNum type="alphaLcParenR"/>
            </a:pPr>
            <a:r>
              <a:rPr lang="pt-BR" dirty="0"/>
              <a:t>Elaborar um programa que leia um número. </a:t>
            </a:r>
            <a:br>
              <a:rPr lang="pt-BR" dirty="0"/>
            </a:br>
            <a:r>
              <a:rPr lang="pt-BR" dirty="0"/>
              <a:t>Calcule e informe o dobro desse número. </a:t>
            </a:r>
            <a:br>
              <a:rPr lang="pt-BR" dirty="0"/>
            </a:br>
            <a:r>
              <a:rPr lang="pt-BR" dirty="0"/>
              <a:t>• Entrada de dados: ler um número </a:t>
            </a:r>
            <a:br>
              <a:rPr lang="pt-BR" dirty="0"/>
            </a:br>
            <a:r>
              <a:rPr lang="pt-BR" dirty="0"/>
              <a:t>• Processamento: calcular o dobro </a:t>
            </a:r>
            <a:br>
              <a:rPr lang="pt-BR" dirty="0"/>
            </a:br>
            <a:r>
              <a:rPr lang="pt-BR" dirty="0"/>
              <a:t>• Saída: informar o dobro</a:t>
            </a:r>
          </a:p>
          <a:p>
            <a:pPr marL="514350" indent="-514350">
              <a:lnSpc>
                <a:spcPct val="110000"/>
              </a:lnSpc>
              <a:buAutoNum type="alphaLcParenR"/>
            </a:pPr>
            <a:r>
              <a:rPr lang="pt-BR" dirty="0"/>
              <a:t>Elaborar um programa que leia dois números. </a:t>
            </a:r>
            <a:br>
              <a:rPr lang="pt-BR" dirty="0"/>
            </a:br>
            <a:r>
              <a:rPr lang="pt-BR" dirty="0"/>
              <a:t>Calcule e informe a soma desses números. </a:t>
            </a:r>
            <a:br>
              <a:rPr lang="pt-BR" dirty="0"/>
            </a:br>
            <a:r>
              <a:rPr lang="pt-BR" dirty="0"/>
              <a:t>• Entrada de dados: ler dois números </a:t>
            </a:r>
            <a:br>
              <a:rPr lang="pt-BR" dirty="0"/>
            </a:br>
            <a:r>
              <a:rPr lang="pt-BR" dirty="0"/>
              <a:t>• Processamento: calcular a soma </a:t>
            </a:r>
            <a:br>
              <a:rPr lang="pt-BR" dirty="0"/>
            </a:br>
            <a:r>
              <a:rPr lang="pt-BR" dirty="0"/>
              <a:t>• Saída: informar a soma</a:t>
            </a:r>
          </a:p>
        </p:txBody>
      </p:sp>
    </p:spTree>
    <p:extLst>
      <p:ext uri="{BB962C8B-B14F-4D97-AF65-F5344CB8AC3E}">
        <p14:creationId xmlns:p14="http://schemas.microsoft.com/office/powerpoint/2010/main" val="427829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C2698-B7D8-C2C6-B145-E1A5F343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2136C-01CB-4C0B-9518-764B72C54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7C2972-2A69-4FBE-70DC-BF1B3435D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Exemplos de entrada, processamento e saída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9B90753-5F45-CB66-6FFE-C47770B70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13F09C-6B40-5CA0-495E-8B6B8EF70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43331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dirty="0"/>
              <a:t>a) Elaborar um programa que leia o valor de um jantar. Calcule e informe o valor da taxa do garçom (10%) e o valor total a ser pago. </a:t>
            </a:r>
          </a:p>
          <a:p>
            <a:pPr marL="266700" lvl="1" indent="0">
              <a:lnSpc>
                <a:spcPct val="120000"/>
              </a:lnSpc>
              <a:buNone/>
            </a:pPr>
            <a:r>
              <a:rPr lang="pt-BR" sz="2600" dirty="0"/>
              <a:t>Vamos avançar um pouco. Neste e nos demais exercícios, vamos apresentar um exemplo de possíveis dados de entrada e dos respectivos dados de saída exibidos pelo programa (e deixar para você enumerar as etapas).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b) Elaborar um programa que leia a duração de uma viagem em dias e horas. Calcule e informe a duração total da viagem em número de horas. Exemplo de dados de entrada e saída do programa (para uma viagem que dura 2 dias + 5 horas).</a:t>
            </a:r>
          </a:p>
          <a:p>
            <a:pPr marL="266700" lvl="1" indent="0">
              <a:lnSpc>
                <a:spcPct val="120000"/>
              </a:lnSpc>
              <a:buNone/>
              <a:tabLst>
                <a:tab pos="266700" algn="l"/>
              </a:tabLst>
            </a:pPr>
            <a:r>
              <a:rPr lang="pt-BR" sz="2600" dirty="0"/>
              <a:t>Nº Dias: 2 </a:t>
            </a:r>
            <a:br>
              <a:rPr lang="pt-BR" sz="2600" dirty="0"/>
            </a:br>
            <a:r>
              <a:rPr lang="pt-BR" sz="2600" dirty="0"/>
              <a:t>Nº Horas: 5 </a:t>
            </a:r>
            <a:br>
              <a:rPr lang="pt-BR" sz="2600" dirty="0"/>
            </a:br>
            <a:r>
              <a:rPr lang="pt-BR" sz="2600" dirty="0"/>
              <a:t>Total de Horas: 53 </a:t>
            </a:r>
            <a:br>
              <a:rPr lang="pt-BR" sz="2600" dirty="0"/>
            </a:br>
            <a:r>
              <a:rPr lang="pt-BR" sz="2600" dirty="0"/>
              <a:t>Observe que o programa deve ler duas variáveis. Com base nessas variáveis, precisamos pensar uma forma de calcular o valor total das horas e converter isso em uma fórmula matemática que esteja correta para quaisquer valores válidos de entrada. Sabendo que um dia tem 24 horas, precisamos multiplicar o número de dias por 24 e adicionar o número de horas.</a:t>
            </a:r>
          </a:p>
        </p:txBody>
      </p:sp>
    </p:spTree>
    <p:extLst>
      <p:ext uri="{BB962C8B-B14F-4D97-AF65-F5344CB8AC3E}">
        <p14:creationId xmlns:p14="http://schemas.microsoft.com/office/powerpoint/2010/main" val="14490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3CD13-6F65-EAF1-A9F5-02447F34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B32701-2762-0A75-3050-DF0E2C99A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27C6AE-F7AB-896D-1219-A2A45FD0B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Exercícios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17B0A20C-7A3B-CFAC-3E90-88BDD25C9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D5C4EB-E7AE-E7DF-4B16-D1C70F1D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dirty="0"/>
              <a:t>a) Elaborar um programa que leia um número. Calcule e informe os seus vizinhos, ou seja, o número anterior e posterior. </a:t>
            </a:r>
            <a:br>
              <a:rPr lang="pt-BR" dirty="0"/>
            </a:br>
            <a:r>
              <a:rPr lang="pt-BR" dirty="0"/>
              <a:t>Exemplo: </a:t>
            </a:r>
            <a:br>
              <a:rPr lang="pt-BR" dirty="0"/>
            </a:br>
            <a:r>
              <a:rPr lang="pt-BR" dirty="0"/>
              <a:t>Número: 15 </a:t>
            </a:r>
            <a:br>
              <a:rPr lang="pt-BR" dirty="0"/>
            </a:br>
            <a:r>
              <a:rPr lang="pt-BR" dirty="0"/>
              <a:t>Vizinhos: 14 e 16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b) Elaborar um programa para uma pizzaria, o qual leia o valor total de uma conta e quantos clientes vão pagá-la. Calcule e informe o valor a ser pago por cliente. </a:t>
            </a:r>
            <a:br>
              <a:rPr lang="pt-BR" dirty="0"/>
            </a:br>
            <a:r>
              <a:rPr lang="pt-BR" dirty="0"/>
              <a:t>Exemplo: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Valor da Conta R$: 90.00</a:t>
            </a:r>
            <a:br>
              <a:rPr lang="pt-BR" dirty="0"/>
            </a:br>
            <a:r>
              <a:rPr lang="pt-BR" dirty="0"/>
              <a:t>Número de Clientes: 3</a:t>
            </a:r>
            <a:br>
              <a:rPr lang="pt-BR" dirty="0"/>
            </a:br>
            <a:r>
              <a:rPr lang="pt-BR" dirty="0"/>
              <a:t>Valor por cliente R$: 30.00 </a:t>
            </a:r>
          </a:p>
        </p:txBody>
      </p:sp>
    </p:spTree>
    <p:extLst>
      <p:ext uri="{BB962C8B-B14F-4D97-AF65-F5344CB8AC3E}">
        <p14:creationId xmlns:p14="http://schemas.microsoft.com/office/powerpoint/2010/main" val="303028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5C830-177B-82E3-3A4C-10A157F7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76869FA-8610-1FC5-4B4F-F9BAD1FAF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BEC9D8-8937-E22F-A780-37FFAC19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Exercícios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B8C96C-8F75-99AD-8BE9-6BF18EDBA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56A034-4144-C7F3-F4F2-FCBDD4119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dirty="0"/>
              <a:t>C) Elaborar um programa para uma loja, o qual leia o preço de um produto e informe as opções de pagamento da loja. Calcule e informe o valor para pagamento à vista com 10% de desconto e o valor em 3x. </a:t>
            </a:r>
            <a:br>
              <a:rPr lang="pt-BR" dirty="0"/>
            </a:br>
            <a:r>
              <a:rPr lang="pt-BR" dirty="0"/>
              <a:t>Exemplo: </a:t>
            </a:r>
            <a:br>
              <a:rPr lang="pt-BR" dirty="0"/>
            </a:br>
            <a:r>
              <a:rPr lang="pt-BR" dirty="0"/>
              <a:t>Preço R$: 60.00 </a:t>
            </a:r>
            <a:br>
              <a:rPr lang="pt-BR" dirty="0"/>
            </a:br>
            <a:r>
              <a:rPr lang="pt-BR" dirty="0"/>
              <a:t>À Vista R$: 54.00 Ou 3x de R$: 20.00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d) Elaborar um programa que leia 2 notas de um aluno em uma disciplina. Calcule e informe a média das notas. </a:t>
            </a:r>
            <a:br>
              <a:rPr lang="pt-BR" dirty="0"/>
            </a:br>
            <a:r>
              <a:rPr lang="pt-BR" dirty="0"/>
              <a:t>Exemplo:</a:t>
            </a:r>
            <a:br>
              <a:rPr lang="pt-BR" dirty="0"/>
            </a:br>
            <a:r>
              <a:rPr lang="pt-BR" dirty="0"/>
              <a:t>1ª Nota: 7.0 </a:t>
            </a:r>
            <a:br>
              <a:rPr lang="pt-BR" dirty="0"/>
            </a:br>
            <a:r>
              <a:rPr lang="pt-BR" dirty="0"/>
              <a:t>2ª Nota: 8.0 </a:t>
            </a:r>
            <a:br>
              <a:rPr lang="pt-BR" dirty="0"/>
            </a:br>
            <a:r>
              <a:rPr lang="pt-BR" dirty="0"/>
              <a:t>Média: 7.5</a:t>
            </a:r>
          </a:p>
        </p:txBody>
      </p:sp>
    </p:spTree>
    <p:extLst>
      <p:ext uri="{BB962C8B-B14F-4D97-AF65-F5344CB8AC3E}">
        <p14:creationId xmlns:p14="http://schemas.microsoft.com/office/powerpoint/2010/main" val="2352231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3034</TotalTime>
  <Words>1085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Desenvolvimento Web II</vt:lpstr>
      <vt:lpstr>Exemplos de uso do Javascript</vt:lpstr>
      <vt:lpstr>Variáveis em Javascript </vt:lpstr>
      <vt:lpstr>Nomeação de variáveis</vt:lpstr>
      <vt:lpstr>Operadores aritméticos</vt:lpstr>
      <vt:lpstr>Exemplo de código</vt:lpstr>
      <vt:lpstr>Operadores de atribuição</vt:lpstr>
      <vt:lpstr>Exemplos de entrada, processamento e saída</vt:lpstr>
      <vt:lpstr>Exemplos de entrada, processamento e saída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Juliano Caetano</dc:creator>
  <cp:lastModifiedBy>Juliano Caetano</cp:lastModifiedBy>
  <cp:revision>20</cp:revision>
  <dcterms:created xsi:type="dcterms:W3CDTF">2024-07-26T13:05:02Z</dcterms:created>
  <dcterms:modified xsi:type="dcterms:W3CDTF">2026-08-03T20:01:29Z</dcterms:modified>
</cp:coreProperties>
</file>